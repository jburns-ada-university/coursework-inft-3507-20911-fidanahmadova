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3"/>
  </p:normalViewPr>
  <p:slideViewPr>
    <p:cSldViewPr snapToGrid="0">
      <p:cViewPr>
        <p:scale>
          <a:sx n="113" d="100"/>
          <a:sy n="113" d="100"/>
        </p:scale>
        <p:origin x="5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AZ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AZ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A651-73C8-4AAD-94B6-176B84A1A5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Raft Consensus Algorithm</a:t>
            </a:r>
            <a:endParaRPr lang="en-A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89E56-2542-1F3D-60D5-7CAFA62FDF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Z" dirty="0"/>
              <a:t>                     </a:t>
            </a:r>
          </a:p>
          <a:p>
            <a:endParaRPr lang="en-AZ" dirty="0"/>
          </a:p>
          <a:p>
            <a:r>
              <a:rPr lang="en-AZ" dirty="0"/>
              <a:t>                     Fidan Ahmadova</a:t>
            </a:r>
          </a:p>
          <a:p>
            <a:r>
              <a:rPr lang="en-AZ" dirty="0"/>
              <a:t>                                               Principles of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3869437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A600-B609-1486-E021-16E0892E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Does Raft Solve?</a:t>
            </a:r>
            <a:endParaRPr lang="en-A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82F3E-AC24-9FC6-5B6A-6928B4BB1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Problem:</a:t>
            </a:r>
            <a:br>
              <a:rPr lang="en-US" dirty="0"/>
            </a:br>
            <a:r>
              <a:rPr lang="en-US" dirty="0"/>
              <a:t>Distributed systems need multiple servers to agree.</a:t>
            </a:r>
          </a:p>
          <a:p>
            <a:r>
              <a:rPr lang="en-US" b="1" dirty="0"/>
              <a:t>Why it matters:</a:t>
            </a:r>
            <a:endParaRPr lang="en-US" dirty="0"/>
          </a:p>
          <a:p>
            <a:r>
              <a:rPr lang="en-US" dirty="0"/>
              <a:t>Servers may crash</a:t>
            </a:r>
          </a:p>
          <a:p>
            <a:r>
              <a:rPr lang="en-US" dirty="0"/>
              <a:t>Messages may be delayed</a:t>
            </a:r>
          </a:p>
          <a:p>
            <a:r>
              <a:rPr lang="en-US" dirty="0"/>
              <a:t>Data must stay consistent</a:t>
            </a:r>
          </a:p>
          <a:p>
            <a:endParaRPr lang="en-A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E7E02-DFC7-88DE-8A55-C467D7598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240" y="3452565"/>
            <a:ext cx="6476997" cy="24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0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55EA-154D-E170-8B1A-1CAB3820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8457" y="574766"/>
            <a:ext cx="8255672" cy="1345474"/>
          </a:xfrm>
        </p:spPr>
        <p:txBody>
          <a:bodyPr/>
          <a:lstStyle/>
          <a:p>
            <a:r>
              <a:rPr lang="en-US" dirty="0"/>
              <a:t>What Is Distributed Consensus?</a:t>
            </a:r>
            <a:endParaRPr lang="en-A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6F1D70C-28AE-DE51-A9D9-83AF6E9F352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96834" y="2103629"/>
            <a:ext cx="702969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Z" altLang="en-A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Distributed consensus means:</a:t>
            </a:r>
            <a:br>
              <a:rPr kumimoji="0" lang="en-AZ" altLang="en-A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AZ" altLang="en-A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Multiple nodes agree on one value or 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Z" altLang="en-A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sequence of actions.</a:t>
            </a:r>
            <a:endParaRPr kumimoji="0" lang="en-AZ" altLang="en-A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Z" altLang="en-A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Example:</a:t>
            </a:r>
            <a:br>
              <a:rPr kumimoji="0" lang="en-AZ" altLang="en-A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AZ" altLang="en-A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 servers agree that:</a:t>
            </a:r>
            <a:br>
              <a:rPr kumimoji="0" lang="en-AZ" altLang="en-A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AZ" altLang="en-AZ" sz="2800" b="1" dirty="0">
                <a:solidFill>
                  <a:srgbClr val="FF0000"/>
                </a:solidFill>
                <a:latin typeface="American Typewriter Condensed" panose="02090606020004020304" pitchFamily="18" charset="77"/>
              </a:rPr>
              <a:t>X=5</a:t>
            </a:r>
            <a:r>
              <a:rPr kumimoji="0" lang="en-AZ" altLang="en-AZ" sz="2800" b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merican Typewriter Condensed" panose="02090606020004020304" pitchFamily="18" charset="77"/>
              </a:rPr>
              <a:t> </a:t>
            </a:r>
            <a:r>
              <a:rPr kumimoji="0" lang="en-AZ" altLang="en-AZ" sz="28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merican Typewriter Condensed" panose="02090606020004020304" pitchFamily="18" charset="77"/>
              </a:rPr>
              <a:t>happens before </a:t>
            </a:r>
            <a:r>
              <a:rPr lang="en-AZ" altLang="en-AZ" sz="2800" b="1" dirty="0">
                <a:solidFill>
                  <a:srgbClr val="FF0000"/>
                </a:solidFill>
                <a:latin typeface="American Typewriter Condensed" panose="02090606020004020304" pitchFamily="18" charset="77"/>
              </a:rPr>
              <a:t>X=</a:t>
            </a:r>
            <a:r>
              <a:rPr lang="en-AZ" altLang="en-AZ" sz="2800" b="1" dirty="0">
                <a:solidFill>
                  <a:srgbClr val="FF0000"/>
                </a:solidFill>
                <a:latin typeface="American Typewriter Condensed" panose="02090606020004020304" pitchFamily="18" charset="77"/>
              </a:rPr>
              <a:t>8</a:t>
            </a:r>
            <a:endParaRPr kumimoji="0" lang="en-AZ" altLang="en-AZ" sz="2800" b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merican Typewriter Condensed" panose="02090606020004020304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Z" altLang="en-A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E3DE18-9C55-09F5-5446-7609B25A6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47503"/>
            <a:ext cx="54229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7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822D-9F7A-8E13-527E-CA5F70A9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03309"/>
            <a:ext cx="4619976" cy="130386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Main Roles in Raft</a:t>
            </a:r>
            <a:endParaRPr lang="en-AZ" dirty="0">
              <a:solidFill>
                <a:srgbClr val="C00000"/>
              </a:solidFill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2050" name="Picture 2" descr="RAFT Explained – Part 2/3: Overview of the Core Protocol">
            <a:extLst>
              <a:ext uri="{FF2B5EF4-FFF2-40B4-BE49-F238E27FC236}">
                <a16:creationId xmlns:a16="http://schemas.microsoft.com/office/drawing/2014/main" id="{A7887188-972E-7C1B-9ABF-E4EF1C301E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09" y="2357635"/>
            <a:ext cx="10398034" cy="369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1BD57E-62FF-7092-0059-6A53AF145A54}"/>
              </a:ext>
            </a:extLst>
          </p:cNvPr>
          <p:cNvSpPr txBox="1"/>
          <p:nvPr/>
        </p:nvSpPr>
        <p:spPr>
          <a:xfrm>
            <a:off x="6649156" y="603309"/>
            <a:ext cx="58702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Leader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Handles client requests and sends heartbeats</a:t>
            </a:r>
          </a:p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Follower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Listens to the leader and stores log entries</a:t>
            </a:r>
          </a:p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Candidate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Starts an election when no leader is detected</a:t>
            </a:r>
          </a:p>
        </p:txBody>
      </p:sp>
    </p:spTree>
    <p:extLst>
      <p:ext uri="{BB962C8B-B14F-4D97-AF65-F5344CB8AC3E}">
        <p14:creationId xmlns:p14="http://schemas.microsoft.com/office/powerpoint/2010/main" val="392942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863-2BCC-10E8-BE35-FF61C589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 Election</a:t>
            </a:r>
            <a:endParaRPr lang="en-A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FC207-8FBC-F76B-E7E8-AE7DF9E9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1" y="2556932"/>
            <a:ext cx="10165077" cy="3318936"/>
          </a:xfrm>
        </p:spPr>
        <p:txBody>
          <a:bodyPr/>
          <a:lstStyle/>
          <a:p>
            <a:r>
              <a:rPr lang="en-US" b="1" dirty="0"/>
              <a:t>Leader Election Steps:</a:t>
            </a:r>
            <a:endParaRPr lang="en-US" dirty="0"/>
          </a:p>
          <a:p>
            <a:r>
              <a:rPr lang="en-US" dirty="0"/>
              <a:t>Followers wait for heartbeat</a:t>
            </a:r>
          </a:p>
          <a:p>
            <a:r>
              <a:rPr lang="en-US" dirty="0"/>
              <a:t>If heartbeat stops, timeout happens</a:t>
            </a:r>
          </a:p>
          <a:p>
            <a:r>
              <a:rPr lang="en-US" dirty="0"/>
              <a:t>Follower becomes candidate</a:t>
            </a:r>
          </a:p>
          <a:p>
            <a:r>
              <a:rPr lang="en-US" dirty="0"/>
              <a:t>Candidate asks for votes</a:t>
            </a:r>
          </a:p>
          <a:p>
            <a:r>
              <a:rPr lang="en-US" dirty="0"/>
              <a:t>Majority vote = new leader</a:t>
            </a:r>
          </a:p>
          <a:p>
            <a:endParaRPr lang="en-A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FE03D-7931-6774-FEDD-F77A22432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618" y="2493985"/>
            <a:ext cx="6096000" cy="338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99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35E0-2FF2-AE4D-C535-1A9105EEF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>
                <a:solidFill>
                  <a:srgbClr val="FF0000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Log Replication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B7EE2E0-ADE7-810D-BE2C-A7C68D963F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63556" y="3200343"/>
            <a:ext cx="38423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Z" altLang="en-AZ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 replication:</a:t>
            </a:r>
            <a:br>
              <a:rPr kumimoji="0" lang="en-AZ" altLang="en-AZ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AZ" altLang="en-AZ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leader copies client commands to followers.</a:t>
            </a:r>
            <a:endParaRPr kumimoji="0" lang="en-AZ" altLang="en-A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Z" altLang="en-AZ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Example command:</a:t>
            </a:r>
            <a:br>
              <a:rPr kumimoji="0" lang="en-AZ" altLang="en-AZ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AZ" altLang="en-AZ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set balance = 100</a:t>
            </a:r>
            <a:endParaRPr kumimoji="0" lang="en-AZ" altLang="en-A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Z" altLang="en-AZ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Flow:</a:t>
            </a:r>
            <a:br>
              <a:rPr kumimoji="0" lang="en-AZ" altLang="en-AZ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AZ" altLang="en-AZ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Client sends command → Leader stores it → Followers copy it → Majority confirms → Entry is committed</a:t>
            </a:r>
            <a:endParaRPr kumimoji="0" lang="en-AZ" altLang="en-A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DEE68F-DBF6-7394-107A-4247124BE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84" y="2582332"/>
            <a:ext cx="6777472" cy="355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80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FEFA-18E4-ADF1-F571-89F229FE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Happens If the Leader Crashes?</a:t>
            </a:r>
            <a:br>
              <a:rPr lang="en-US" b="1" dirty="0"/>
            </a:br>
            <a:endParaRPr lang="en-A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431B6-D01B-51AD-1493-DF4EE2D85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7" y="2556932"/>
            <a:ext cx="10151530" cy="3318936"/>
          </a:xfrm>
        </p:spPr>
        <p:txBody>
          <a:bodyPr>
            <a:normAutofit/>
          </a:bodyPr>
          <a:lstStyle/>
          <a:p>
            <a:r>
              <a:rPr lang="en-US" sz="1600" b="1" dirty="0"/>
              <a:t>Leader crash scenario:</a:t>
            </a:r>
            <a:endParaRPr lang="en-US" sz="1600" dirty="0"/>
          </a:p>
          <a:p>
            <a:r>
              <a:rPr lang="en-US" sz="1600" dirty="0"/>
              <a:t>Leader stops sending heartbeats</a:t>
            </a:r>
          </a:p>
          <a:p>
            <a:r>
              <a:rPr lang="en-US" sz="1600" dirty="0"/>
              <a:t>Followers detect timeout</a:t>
            </a:r>
          </a:p>
          <a:p>
            <a:r>
              <a:rPr lang="en-US" sz="1600" dirty="0"/>
              <a:t>New election starts</a:t>
            </a:r>
          </a:p>
          <a:p>
            <a:r>
              <a:rPr lang="en-US" sz="1600" dirty="0"/>
              <a:t>New leader continues the system</a:t>
            </a:r>
          </a:p>
          <a:p>
            <a:r>
              <a:rPr lang="en-US" sz="1600" b="1" dirty="0"/>
              <a:t>Key idea:</a:t>
            </a:r>
            <a:br>
              <a:rPr lang="en-US" sz="1600" dirty="0"/>
            </a:br>
            <a:r>
              <a:rPr lang="en-US" sz="1600" dirty="0"/>
              <a:t>Raft can continue if a majority of nodes are alive.</a:t>
            </a:r>
          </a:p>
          <a:p>
            <a:endParaRPr lang="en-A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5CDD0-484C-F3D2-000D-90CFD8D56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784" y="2451965"/>
            <a:ext cx="5243126" cy="342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10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9996-8102-7B7E-4775-BCD8D47E9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Recap / Conclusion</a:t>
            </a:r>
            <a:br>
              <a:rPr lang="en-US" b="1" dirty="0"/>
            </a:br>
            <a:endParaRPr lang="en-A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DDBBE-7FFD-9F67-CB24-452321D10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Raft in one sentence:</a:t>
            </a:r>
            <a:br>
              <a:rPr lang="en-US" dirty="0"/>
            </a:br>
            <a:r>
              <a:rPr lang="en-US" dirty="0"/>
              <a:t>Raft helps distributed servers agree by using a leader.</a:t>
            </a:r>
          </a:p>
          <a:p>
            <a:r>
              <a:rPr lang="en-US" b="1" dirty="0"/>
              <a:t>Main ideas:</a:t>
            </a:r>
            <a:endParaRPr lang="en-US" dirty="0"/>
          </a:p>
          <a:p>
            <a:r>
              <a:rPr lang="en-US" dirty="0"/>
              <a:t>Consensus keeps data consistent</a:t>
            </a:r>
          </a:p>
          <a:p>
            <a:r>
              <a:rPr lang="en-US" dirty="0"/>
              <a:t>One leader manages updates</a:t>
            </a:r>
          </a:p>
          <a:p>
            <a:r>
              <a:rPr lang="en-US" dirty="0"/>
              <a:t>Followers replicate logs</a:t>
            </a:r>
          </a:p>
          <a:p>
            <a:r>
              <a:rPr lang="en-US" dirty="0"/>
              <a:t>Elections recover from failures</a:t>
            </a:r>
          </a:p>
          <a:p>
            <a:r>
              <a:rPr lang="en-US" b="1" dirty="0"/>
              <a:t>Final question:</a:t>
            </a:r>
            <a:br>
              <a:rPr lang="en-US" dirty="0"/>
            </a:br>
            <a:r>
              <a:rPr lang="en-US" dirty="0"/>
              <a:t>What would happen if no majority is available?</a:t>
            </a:r>
          </a:p>
          <a:p>
            <a:endParaRPr lang="en-AZ" dirty="0"/>
          </a:p>
        </p:txBody>
      </p:sp>
    </p:spTree>
    <p:extLst>
      <p:ext uri="{BB962C8B-B14F-4D97-AF65-F5344CB8AC3E}">
        <p14:creationId xmlns:p14="http://schemas.microsoft.com/office/powerpoint/2010/main" val="32393128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66</TotalTime>
  <Words>281</Words>
  <Application>Microsoft Macintosh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AMERICAN TYPEWRITER CONDENSED</vt:lpstr>
      <vt:lpstr>AMERICAN TYPEWRITER CONDENSED</vt:lpstr>
      <vt:lpstr>Apple Chancery</vt:lpstr>
      <vt:lpstr>Arial</vt:lpstr>
      <vt:lpstr>Arial Unicode MS</vt:lpstr>
      <vt:lpstr>Garamond</vt:lpstr>
      <vt:lpstr>Organic</vt:lpstr>
      <vt:lpstr> Raft Consensus Algorithm</vt:lpstr>
      <vt:lpstr>What Problem Does Raft Solve?</vt:lpstr>
      <vt:lpstr>What Is Distributed Consensus?</vt:lpstr>
      <vt:lpstr>Main Roles in Raft</vt:lpstr>
      <vt:lpstr>Leader Election</vt:lpstr>
      <vt:lpstr>Log Replication</vt:lpstr>
      <vt:lpstr>What Happens If the Leader Crashes? </vt:lpstr>
      <vt:lpstr>Recap /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Fidan Ahmadova</dc:creator>
  <cp:lastModifiedBy>Fidan Ahmadova</cp:lastModifiedBy>
  <cp:revision>2</cp:revision>
  <dcterms:created xsi:type="dcterms:W3CDTF">2026-05-10T08:14:20Z</dcterms:created>
  <dcterms:modified xsi:type="dcterms:W3CDTF">2026-05-10T09:20:41Z</dcterms:modified>
</cp:coreProperties>
</file>